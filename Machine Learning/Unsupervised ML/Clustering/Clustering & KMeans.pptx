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4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7/31/2025</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312560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63133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21456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53220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60309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0535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123396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7408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4011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811531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7/31/2025</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70268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7/31/2025</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2668557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4F87819-B70D-4927-B657-7D175613F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CB3820D-C773-4632-9F79-C890E1B2B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177668"/>
          </a:xfrm>
          <a:custGeom>
            <a:avLst/>
            <a:gdLst>
              <a:gd name="connsiteX0" fmla="*/ 6861986 w 12191999"/>
              <a:gd name="connsiteY0" fmla="*/ 6107659 h 6177668"/>
              <a:gd name="connsiteX1" fmla="*/ 6860986 w 12191999"/>
              <a:gd name="connsiteY1" fmla="*/ 6107739 h 6177668"/>
              <a:gd name="connsiteX2" fmla="*/ 6860759 w 12191999"/>
              <a:gd name="connsiteY2" fmla="*/ 6108287 h 6177668"/>
              <a:gd name="connsiteX3" fmla="*/ 0 w 12191999"/>
              <a:gd name="connsiteY3" fmla="*/ 0 h 6177668"/>
              <a:gd name="connsiteX4" fmla="*/ 12191999 w 12191999"/>
              <a:gd name="connsiteY4" fmla="*/ 0 h 6177668"/>
              <a:gd name="connsiteX5" fmla="*/ 12191999 w 12191999"/>
              <a:gd name="connsiteY5" fmla="*/ 5215324 h 6177668"/>
              <a:gd name="connsiteX6" fmla="*/ 12144282 w 12191999"/>
              <a:gd name="connsiteY6" fmla="*/ 5229900 h 6177668"/>
              <a:gd name="connsiteX7" fmla="*/ 11759192 w 12191999"/>
              <a:gd name="connsiteY7" fmla="*/ 5336208 h 6177668"/>
              <a:gd name="connsiteX8" fmla="*/ 10505159 w 12191999"/>
              <a:gd name="connsiteY8" fmla="*/ 5627228 h 6177668"/>
              <a:gd name="connsiteX9" fmla="*/ 9501755 w 12191999"/>
              <a:gd name="connsiteY9" fmla="*/ 5807012 h 6177668"/>
              <a:gd name="connsiteX10" fmla="*/ 8534155 w 12191999"/>
              <a:gd name="connsiteY10" fmla="*/ 5944240 h 6177668"/>
              <a:gd name="connsiteX11" fmla="*/ 7790171 w 12191999"/>
              <a:gd name="connsiteY11" fmla="*/ 6026297 h 6177668"/>
              <a:gd name="connsiteX12" fmla="*/ 7024337 w 12191999"/>
              <a:gd name="connsiteY12" fmla="*/ 6093812 h 6177668"/>
              <a:gd name="connsiteX13" fmla="*/ 7008892 w 12191999"/>
              <a:gd name="connsiteY13" fmla="*/ 6095938 h 6177668"/>
              <a:gd name="connsiteX14" fmla="*/ 6862735 w 12191999"/>
              <a:gd name="connsiteY14" fmla="*/ 6107599 h 6177668"/>
              <a:gd name="connsiteX15" fmla="*/ 6872248 w 12191999"/>
              <a:gd name="connsiteY15" fmla="*/ 6109467 h 6177668"/>
              <a:gd name="connsiteX16" fmla="*/ 6907812 w 12191999"/>
              <a:gd name="connsiteY16" fmla="*/ 6107715 h 6177668"/>
              <a:gd name="connsiteX17" fmla="*/ 6956484 w 12191999"/>
              <a:gd name="connsiteY17" fmla="*/ 6104658 h 6177668"/>
              <a:gd name="connsiteX18" fmla="*/ 7652688 w 12191999"/>
              <a:gd name="connsiteY18" fmla="*/ 6071273 h 6177668"/>
              <a:gd name="connsiteX19" fmla="*/ 8699923 w 12191999"/>
              <a:gd name="connsiteY19" fmla="*/ 5982083 h 6177668"/>
              <a:gd name="connsiteX20" fmla="*/ 9557819 w 12191999"/>
              <a:gd name="connsiteY20" fmla="*/ 5875435 h 6177668"/>
              <a:gd name="connsiteX21" fmla="*/ 10709534 w 12191999"/>
              <a:gd name="connsiteY21" fmla="*/ 5676156 h 6177668"/>
              <a:gd name="connsiteX22" fmla="*/ 12081554 w 12191999"/>
              <a:gd name="connsiteY22" fmla="*/ 5341561 h 6177668"/>
              <a:gd name="connsiteX23" fmla="*/ 12191999 w 12191999"/>
              <a:gd name="connsiteY23" fmla="*/ 5308238 h 6177668"/>
              <a:gd name="connsiteX24" fmla="*/ 12191999 w 12191999"/>
              <a:gd name="connsiteY24" fmla="*/ 5364054 h 6177668"/>
              <a:gd name="connsiteX25" fmla="*/ 11911964 w 12191999"/>
              <a:gd name="connsiteY25" fmla="*/ 5447316 h 6177668"/>
              <a:gd name="connsiteX26" fmla="*/ 11020049 w 12191999"/>
              <a:gd name="connsiteY26" fmla="*/ 5667491 h 6177668"/>
              <a:gd name="connsiteX27" fmla="*/ 10064425 w 12191999"/>
              <a:gd name="connsiteY27" fmla="*/ 5852245 h 6177668"/>
              <a:gd name="connsiteX28" fmla="*/ 9264124 w 12191999"/>
              <a:gd name="connsiteY28" fmla="*/ 5971252 h 6177668"/>
              <a:gd name="connsiteX29" fmla="*/ 8654182 w 12191999"/>
              <a:gd name="connsiteY29" fmla="*/ 6042605 h 6177668"/>
              <a:gd name="connsiteX30" fmla="*/ 7938866 w 12191999"/>
              <a:gd name="connsiteY30" fmla="*/ 6105677 h 6177668"/>
              <a:gd name="connsiteX31" fmla="*/ 7008089 w 12191999"/>
              <a:gd name="connsiteY31" fmla="*/ 6158427 h 6177668"/>
              <a:gd name="connsiteX32" fmla="*/ 6549390 w 12191999"/>
              <a:gd name="connsiteY32" fmla="*/ 6172697 h 6177668"/>
              <a:gd name="connsiteX33" fmla="*/ 6433696 w 12191999"/>
              <a:gd name="connsiteY33" fmla="*/ 6177668 h 6177668"/>
              <a:gd name="connsiteX34" fmla="*/ 6127899 w 12191999"/>
              <a:gd name="connsiteY34" fmla="*/ 6177668 h 6177668"/>
              <a:gd name="connsiteX35" fmla="*/ 6048391 w 12191999"/>
              <a:gd name="connsiteY35" fmla="*/ 6172953 h 6177668"/>
              <a:gd name="connsiteX36" fmla="*/ 5334221 w 12191999"/>
              <a:gd name="connsiteY36" fmla="*/ 6135747 h 6177668"/>
              <a:gd name="connsiteX37" fmla="*/ 4413510 w 12191999"/>
              <a:gd name="connsiteY37" fmla="*/ 6072039 h 6177668"/>
              <a:gd name="connsiteX38" fmla="*/ 3438265 w 12191999"/>
              <a:gd name="connsiteY38" fmla="*/ 5970870 h 6177668"/>
              <a:gd name="connsiteX39" fmla="*/ 2425303 w 12191999"/>
              <a:gd name="connsiteY39" fmla="*/ 5848805 h 6177668"/>
              <a:gd name="connsiteX40" fmla="*/ 1293973 w 12191999"/>
              <a:gd name="connsiteY40" fmla="*/ 5671060 h 6177668"/>
              <a:gd name="connsiteX41" fmla="*/ 126888 w 12191999"/>
              <a:gd name="connsiteY41" fmla="*/ 5425029 h 6177668"/>
              <a:gd name="connsiteX42" fmla="*/ 0 w 12191999"/>
              <a:gd name="connsiteY42" fmla="*/ 5392100 h 6177668"/>
              <a:gd name="connsiteX43" fmla="*/ 0 w 12191999"/>
              <a:gd name="connsiteY43" fmla="*/ 5333771 h 6177668"/>
              <a:gd name="connsiteX44" fmla="*/ 130837 w 12191999"/>
              <a:gd name="connsiteY44" fmla="*/ 5368509 h 6177668"/>
              <a:gd name="connsiteX45" fmla="*/ 660204 w 12191999"/>
              <a:gd name="connsiteY45" fmla="*/ 5490001 h 6177668"/>
              <a:gd name="connsiteX46" fmla="*/ 1831416 w 12191999"/>
              <a:gd name="connsiteY46" fmla="*/ 5705715 h 6177668"/>
              <a:gd name="connsiteX47" fmla="*/ 2677204 w 12191999"/>
              <a:gd name="connsiteY47" fmla="*/ 5825742 h 6177668"/>
              <a:gd name="connsiteX48" fmla="*/ 2644716 w 12191999"/>
              <a:gd name="connsiteY48" fmla="*/ 5815549 h 6177668"/>
              <a:gd name="connsiteX49" fmla="*/ 1173182 w 12191999"/>
              <a:gd name="connsiteY49" fmla="*/ 5474074 h 6177668"/>
              <a:gd name="connsiteX50" fmla="*/ 479527 w 12191999"/>
              <a:gd name="connsiteY50" fmla="*/ 5269379 h 6177668"/>
              <a:gd name="connsiteX51" fmla="*/ 0 w 12191999"/>
              <a:gd name="connsiteY51" fmla="*/ 5107083 h 6177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48B850F8-CED0-D071-5D53-3389C410815E}"/>
              </a:ext>
            </a:extLst>
          </p:cNvPr>
          <p:cNvPicPr>
            <a:picLocks noChangeAspect="1"/>
          </p:cNvPicPr>
          <p:nvPr/>
        </p:nvPicPr>
        <p:blipFill>
          <a:blip r:embed="rId2">
            <a:alphaModFix amt="55000"/>
          </a:blip>
          <a:srcRect t="11617" b="12473"/>
          <a:stretch>
            <a:fillRect/>
          </a:stretch>
        </p:blipFill>
        <p:spPr>
          <a:xfrm>
            <a:off x="20" y="10"/>
            <a:ext cx="12191979" cy="6177658"/>
          </a:xfrm>
          <a:custGeom>
            <a:avLst/>
            <a:gdLst/>
            <a:ahLst/>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p:spPr>
      </p:pic>
      <p:sp>
        <p:nvSpPr>
          <p:cNvPr id="2" name="Title 1">
            <a:extLst>
              <a:ext uri="{FF2B5EF4-FFF2-40B4-BE49-F238E27FC236}">
                <a16:creationId xmlns:a16="http://schemas.microsoft.com/office/drawing/2014/main" id="{3E937497-9914-E384-7F2E-0EF9954BE7FF}"/>
              </a:ext>
            </a:extLst>
          </p:cNvPr>
          <p:cNvSpPr>
            <a:spLocks noGrp="1"/>
          </p:cNvSpPr>
          <p:nvPr>
            <p:ph type="ctrTitle"/>
          </p:nvPr>
        </p:nvSpPr>
        <p:spPr>
          <a:xfrm>
            <a:off x="1524000" y="1026747"/>
            <a:ext cx="9144000" cy="2387600"/>
          </a:xfrm>
        </p:spPr>
        <p:txBody>
          <a:bodyPr>
            <a:normAutofit/>
          </a:bodyPr>
          <a:lstStyle/>
          <a:p>
            <a:pPr algn="ctr"/>
            <a:r>
              <a:rPr lang="en-US" sz="8000">
                <a:solidFill>
                  <a:schemeClr val="bg1"/>
                </a:solidFill>
              </a:rPr>
              <a:t>Clustering</a:t>
            </a:r>
          </a:p>
        </p:txBody>
      </p:sp>
      <p:sp>
        <p:nvSpPr>
          <p:cNvPr id="3" name="Subtitle 2">
            <a:extLst>
              <a:ext uri="{FF2B5EF4-FFF2-40B4-BE49-F238E27FC236}">
                <a16:creationId xmlns:a16="http://schemas.microsoft.com/office/drawing/2014/main" id="{43C7E25C-A64A-A9D3-AE79-916BB4A21465}"/>
              </a:ext>
            </a:extLst>
          </p:cNvPr>
          <p:cNvSpPr>
            <a:spLocks noGrp="1"/>
          </p:cNvSpPr>
          <p:nvPr>
            <p:ph type="subTitle" idx="1"/>
          </p:nvPr>
        </p:nvSpPr>
        <p:spPr>
          <a:xfrm>
            <a:off x="1524000" y="3927080"/>
            <a:ext cx="9144000" cy="1197323"/>
          </a:xfrm>
        </p:spPr>
        <p:txBody>
          <a:bodyPr>
            <a:normAutofit/>
          </a:bodyPr>
          <a:lstStyle/>
          <a:p>
            <a:pPr algn="ctr"/>
            <a:r>
              <a:rPr lang="en-US" sz="3200">
                <a:solidFill>
                  <a:schemeClr val="bg1"/>
                </a:solidFill>
              </a:rPr>
              <a:t>Ahmed Akram Amer</a:t>
            </a:r>
          </a:p>
        </p:txBody>
      </p:sp>
      <p:sp>
        <p:nvSpPr>
          <p:cNvPr id="13" name="Rectangle 6">
            <a:extLst>
              <a:ext uri="{FF2B5EF4-FFF2-40B4-BE49-F238E27FC236}">
                <a16:creationId xmlns:a16="http://schemas.microsoft.com/office/drawing/2014/main" id="{DCB8EB4B-AFE9-41E8-95B0-F246E5740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650059"/>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ogo for a machine learning engineer&#10;&#10;Description automatically generated">
            <a:extLst>
              <a:ext uri="{FF2B5EF4-FFF2-40B4-BE49-F238E27FC236}">
                <a16:creationId xmlns:a16="http://schemas.microsoft.com/office/drawing/2014/main" id="{10C07D15-643D-2626-20B2-56A27695FCD3}"/>
              </a:ext>
            </a:extLst>
          </p:cNvPr>
          <p:cNvPicPr>
            <a:picLocks noChangeAspect="1"/>
          </p:cNvPicPr>
          <p:nvPr/>
        </p:nvPicPr>
        <p:blipFill>
          <a:blip r:embed="rId3"/>
          <a:stretch>
            <a:fillRect/>
          </a:stretch>
        </p:blipFill>
        <p:spPr>
          <a:xfrm>
            <a:off x="352425" y="428085"/>
            <a:ext cx="1476375" cy="1197324"/>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2927733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CDC84-1315-B66C-A206-BE7C990BC729}"/>
              </a:ext>
            </a:extLst>
          </p:cNvPr>
          <p:cNvSpPr>
            <a:spLocks noGrp="1"/>
          </p:cNvSpPr>
          <p:nvPr>
            <p:ph type="title"/>
          </p:nvPr>
        </p:nvSpPr>
        <p:spPr>
          <a:xfrm>
            <a:off x="5297762" y="329184"/>
            <a:ext cx="6251110" cy="1783080"/>
          </a:xfrm>
        </p:spPr>
        <p:txBody>
          <a:bodyPr anchor="b">
            <a:normAutofit/>
          </a:bodyPr>
          <a:lstStyle/>
          <a:p>
            <a:r>
              <a:rPr lang="en-US" sz="7200"/>
              <a:t>Agenda</a:t>
            </a:r>
          </a:p>
        </p:txBody>
      </p:sp>
      <p:sp>
        <p:nvSpPr>
          <p:cNvPr id="12"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E29820"/>
          </a:solidFill>
          <a:ln w="38100" cap="rnd">
            <a:solidFill>
              <a:srgbClr val="E29820"/>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F7E1568D-5231-E452-2F35-9098998A435E}"/>
              </a:ext>
            </a:extLst>
          </p:cNvPr>
          <p:cNvSpPr>
            <a:spLocks noGrp="1" noChangeArrowheads="1"/>
          </p:cNvSpPr>
          <p:nvPr>
            <p:ph idx="1"/>
          </p:nvPr>
        </p:nvSpPr>
        <p:spPr bwMode="auto">
          <a:xfrm>
            <a:off x="5297762" y="2706624"/>
            <a:ext cx="6251110" cy="34838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lnSpc>
                <a:spcPct val="100000"/>
              </a:lnSpc>
              <a:spcBef>
                <a:spcPct val="0"/>
              </a:spcBef>
              <a:spcAft>
                <a:spcPts val="600"/>
              </a:spcAft>
            </a:pPr>
            <a:r>
              <a:rPr kumimoji="0" lang="en-US" altLang="en-US" sz="2200" b="0" i="0" u="none" strike="noStrike" cap="none" normalizeH="0" baseline="0">
                <a:ln>
                  <a:noFill/>
                </a:ln>
                <a:effectLst/>
                <a:latin typeface="Arial" panose="020B0604020202020204" pitchFamily="34" charset="0"/>
              </a:rPr>
              <a:t>What is Clustering?</a:t>
            </a:r>
          </a:p>
          <a:p>
            <a:pPr eaLnBrk="0" fontAlgn="base" hangingPunct="0">
              <a:lnSpc>
                <a:spcPct val="100000"/>
              </a:lnSpc>
              <a:spcBef>
                <a:spcPct val="0"/>
              </a:spcBef>
              <a:spcAft>
                <a:spcPts val="600"/>
              </a:spcAft>
            </a:pPr>
            <a:r>
              <a:rPr kumimoji="0" lang="en-US" altLang="en-US" sz="2200" b="0" i="0" u="none" strike="noStrike" cap="none" normalizeH="0" baseline="0">
                <a:ln>
                  <a:noFill/>
                </a:ln>
                <a:effectLst/>
                <a:latin typeface="Arial" panose="020B0604020202020204" pitchFamily="34" charset="0"/>
              </a:rPr>
              <a:t>Why Clustering?</a:t>
            </a:r>
          </a:p>
          <a:p>
            <a:pPr eaLnBrk="0" fontAlgn="base" hangingPunct="0">
              <a:lnSpc>
                <a:spcPct val="100000"/>
              </a:lnSpc>
              <a:spcBef>
                <a:spcPct val="0"/>
              </a:spcBef>
              <a:spcAft>
                <a:spcPts val="600"/>
              </a:spcAft>
            </a:pPr>
            <a:r>
              <a:rPr kumimoji="0" lang="en-US" altLang="en-US" sz="2200" b="0" i="0" u="none" strike="noStrike" cap="none" normalizeH="0" baseline="0">
                <a:ln>
                  <a:noFill/>
                </a:ln>
                <a:effectLst/>
                <a:latin typeface="Arial" panose="020B0604020202020204" pitchFamily="34" charset="0"/>
              </a:rPr>
              <a:t>Types of Clustering</a:t>
            </a:r>
          </a:p>
          <a:p>
            <a:pPr eaLnBrk="0" fontAlgn="base" hangingPunct="0">
              <a:lnSpc>
                <a:spcPct val="100000"/>
              </a:lnSpc>
              <a:spcBef>
                <a:spcPct val="0"/>
              </a:spcBef>
              <a:spcAft>
                <a:spcPts val="600"/>
              </a:spcAft>
            </a:pPr>
            <a:r>
              <a:rPr kumimoji="0" lang="en-US" altLang="en-US" sz="2200" b="0" i="0" u="none" strike="noStrike" cap="none" normalizeH="0" baseline="0">
                <a:ln>
                  <a:noFill/>
                </a:ln>
                <a:effectLst/>
                <a:latin typeface="Arial" panose="020B0604020202020204" pitchFamily="34" charset="0"/>
              </a:rPr>
              <a:t>K-Means Clustering (main focus)</a:t>
            </a:r>
          </a:p>
          <a:p>
            <a:pPr eaLnBrk="0" fontAlgn="base" hangingPunct="0">
              <a:lnSpc>
                <a:spcPct val="100000"/>
              </a:lnSpc>
              <a:spcBef>
                <a:spcPct val="0"/>
              </a:spcBef>
              <a:spcAft>
                <a:spcPts val="600"/>
              </a:spcAft>
            </a:pPr>
            <a:r>
              <a:rPr kumimoji="0" lang="en-US" altLang="en-US" sz="2200" b="0" i="0" u="none" strike="noStrike" cap="none" normalizeH="0" baseline="0">
                <a:ln>
                  <a:noFill/>
                </a:ln>
                <a:effectLst/>
                <a:latin typeface="Arial" panose="020B0604020202020204" pitchFamily="34" charset="0"/>
              </a:rPr>
              <a:t>Real-World Applications</a:t>
            </a:r>
          </a:p>
          <a:p>
            <a:pPr eaLnBrk="0" fontAlgn="base" hangingPunct="0">
              <a:lnSpc>
                <a:spcPct val="100000"/>
              </a:lnSpc>
              <a:spcBef>
                <a:spcPct val="0"/>
              </a:spcBef>
              <a:spcAft>
                <a:spcPts val="600"/>
              </a:spcAft>
            </a:pPr>
            <a:r>
              <a:rPr kumimoji="0" lang="en-US" altLang="en-US" sz="2200" b="0" i="0" u="none" strike="noStrike" cap="none" normalizeH="0" baseline="0">
                <a:ln>
                  <a:noFill/>
                </a:ln>
                <a:effectLst/>
                <a:latin typeface="Arial" panose="020B0604020202020204" pitchFamily="34" charset="0"/>
              </a:rPr>
              <a:t>Key Terminologies</a:t>
            </a:r>
          </a:p>
          <a:p>
            <a:pPr eaLnBrk="0" fontAlgn="base" hangingPunct="0">
              <a:lnSpc>
                <a:spcPct val="100000"/>
              </a:lnSpc>
              <a:spcBef>
                <a:spcPct val="0"/>
              </a:spcBef>
              <a:spcAft>
                <a:spcPts val="600"/>
              </a:spcAft>
            </a:pPr>
            <a:r>
              <a:rPr kumimoji="0" lang="en-US" altLang="en-US" sz="2200" b="0" i="0" u="none" strike="noStrike" cap="none" normalizeH="0" baseline="0">
                <a:ln>
                  <a:noFill/>
                </a:ln>
                <a:effectLst/>
                <a:latin typeface="Arial" panose="020B0604020202020204" pitchFamily="34" charset="0"/>
              </a:rPr>
              <a:t>Python Implementation</a:t>
            </a:r>
          </a:p>
          <a:p>
            <a:pPr eaLnBrk="0" fontAlgn="base" hangingPunct="0">
              <a:lnSpc>
                <a:spcPct val="100000"/>
              </a:lnSpc>
              <a:spcBef>
                <a:spcPct val="0"/>
              </a:spcBef>
              <a:spcAft>
                <a:spcPts val="600"/>
              </a:spcAft>
            </a:pPr>
            <a:r>
              <a:rPr kumimoji="0" lang="en-US" altLang="en-US" sz="2200" b="0" i="0" u="none" strike="noStrike" cap="none" normalizeH="0" baseline="0">
                <a:ln>
                  <a:noFill/>
                </a:ln>
                <a:effectLst/>
                <a:latin typeface="Arial" panose="020B0604020202020204" pitchFamily="34" charset="0"/>
              </a:rPr>
              <a:t>Summary &amp; Q&amp;A</a:t>
            </a:r>
          </a:p>
        </p:txBody>
      </p:sp>
      <p:pic>
        <p:nvPicPr>
          <p:cNvPr id="6" name="Picture 5" descr="Colorful math learning objects">
            <a:extLst>
              <a:ext uri="{FF2B5EF4-FFF2-40B4-BE49-F238E27FC236}">
                <a16:creationId xmlns:a16="http://schemas.microsoft.com/office/drawing/2014/main" id="{D826809D-E064-C4E2-8E39-86AD48A14D50}"/>
              </a:ext>
            </a:extLst>
          </p:cNvPr>
          <p:cNvPicPr>
            <a:picLocks noChangeAspect="1"/>
          </p:cNvPicPr>
          <p:nvPr/>
        </p:nvPicPr>
        <p:blipFill>
          <a:blip r:embed="rId2"/>
          <a:srcRect l="20962" r="33707"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2990991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BCB9E0F-80B4-4BE1-A13D-A796E81860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C37FA3-1CAB-67BC-9C74-4682CC3B4E5A}"/>
              </a:ext>
            </a:extLst>
          </p:cNvPr>
          <p:cNvSpPr>
            <a:spLocks noGrp="1"/>
          </p:cNvSpPr>
          <p:nvPr>
            <p:ph type="title"/>
          </p:nvPr>
        </p:nvSpPr>
        <p:spPr>
          <a:xfrm>
            <a:off x="572493" y="238539"/>
            <a:ext cx="11047013" cy="1434415"/>
          </a:xfrm>
        </p:spPr>
        <p:txBody>
          <a:bodyPr anchor="b">
            <a:normAutofit/>
          </a:bodyPr>
          <a:lstStyle/>
          <a:p>
            <a:r>
              <a:rPr lang="en-US" sz="7200"/>
              <a:t>What Is clustering ..?</a:t>
            </a:r>
          </a:p>
        </p:txBody>
      </p:sp>
      <p:sp>
        <p:nvSpPr>
          <p:cNvPr id="1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4" y="1817073"/>
            <a:ext cx="11018520" cy="18288"/>
          </a:xfrm>
          <a:custGeom>
            <a:avLst/>
            <a:gdLst>
              <a:gd name="connsiteX0" fmla="*/ 0 w 11018520"/>
              <a:gd name="connsiteY0" fmla="*/ 0 h 18288"/>
              <a:gd name="connsiteX1" fmla="*/ 468287 w 11018520"/>
              <a:gd name="connsiteY1" fmla="*/ 0 h 18288"/>
              <a:gd name="connsiteX2" fmla="*/ 1156945 w 11018520"/>
              <a:gd name="connsiteY2" fmla="*/ 0 h 18288"/>
              <a:gd name="connsiteX3" fmla="*/ 1955787 w 11018520"/>
              <a:gd name="connsiteY3" fmla="*/ 0 h 18288"/>
              <a:gd name="connsiteX4" fmla="*/ 2313889 w 11018520"/>
              <a:gd name="connsiteY4" fmla="*/ 0 h 18288"/>
              <a:gd name="connsiteX5" fmla="*/ 2671991 w 11018520"/>
              <a:gd name="connsiteY5" fmla="*/ 0 h 18288"/>
              <a:gd name="connsiteX6" fmla="*/ 3581019 w 11018520"/>
              <a:gd name="connsiteY6" fmla="*/ 0 h 18288"/>
              <a:gd name="connsiteX7" fmla="*/ 4269677 w 11018520"/>
              <a:gd name="connsiteY7" fmla="*/ 0 h 18288"/>
              <a:gd name="connsiteX8" fmla="*/ 4627778 w 11018520"/>
              <a:gd name="connsiteY8" fmla="*/ 0 h 18288"/>
              <a:gd name="connsiteX9" fmla="*/ 5316436 w 11018520"/>
              <a:gd name="connsiteY9" fmla="*/ 0 h 18288"/>
              <a:gd name="connsiteX10" fmla="*/ 6225464 w 11018520"/>
              <a:gd name="connsiteY10" fmla="*/ 0 h 18288"/>
              <a:gd name="connsiteX11" fmla="*/ 6803936 w 11018520"/>
              <a:gd name="connsiteY11" fmla="*/ 0 h 18288"/>
              <a:gd name="connsiteX12" fmla="*/ 7382408 w 11018520"/>
              <a:gd name="connsiteY12" fmla="*/ 0 h 18288"/>
              <a:gd name="connsiteX13" fmla="*/ 8071066 w 11018520"/>
              <a:gd name="connsiteY13" fmla="*/ 0 h 18288"/>
              <a:gd name="connsiteX14" fmla="*/ 8869909 w 11018520"/>
              <a:gd name="connsiteY14" fmla="*/ 0 h 18288"/>
              <a:gd name="connsiteX15" fmla="*/ 9668751 w 11018520"/>
              <a:gd name="connsiteY15" fmla="*/ 0 h 18288"/>
              <a:gd name="connsiteX16" fmla="*/ 11018520 w 11018520"/>
              <a:gd name="connsiteY16" fmla="*/ 0 h 18288"/>
              <a:gd name="connsiteX17" fmla="*/ 11018520 w 11018520"/>
              <a:gd name="connsiteY17" fmla="*/ 18288 h 18288"/>
              <a:gd name="connsiteX18" fmla="*/ 10550233 w 11018520"/>
              <a:gd name="connsiteY18" fmla="*/ 18288 h 18288"/>
              <a:gd name="connsiteX19" fmla="*/ 9641205 w 11018520"/>
              <a:gd name="connsiteY19" fmla="*/ 18288 h 18288"/>
              <a:gd name="connsiteX20" fmla="*/ 8952548 w 11018520"/>
              <a:gd name="connsiteY20" fmla="*/ 18288 h 18288"/>
              <a:gd name="connsiteX21" fmla="*/ 8594446 w 11018520"/>
              <a:gd name="connsiteY21" fmla="*/ 18288 h 18288"/>
              <a:gd name="connsiteX22" fmla="*/ 7905788 w 11018520"/>
              <a:gd name="connsiteY22" fmla="*/ 18288 h 18288"/>
              <a:gd name="connsiteX23" fmla="*/ 7327316 w 11018520"/>
              <a:gd name="connsiteY23" fmla="*/ 18288 h 18288"/>
              <a:gd name="connsiteX24" fmla="*/ 6748844 w 11018520"/>
              <a:gd name="connsiteY24" fmla="*/ 18288 h 18288"/>
              <a:gd name="connsiteX25" fmla="*/ 6170371 w 11018520"/>
              <a:gd name="connsiteY25" fmla="*/ 18288 h 18288"/>
              <a:gd name="connsiteX26" fmla="*/ 5591899 w 11018520"/>
              <a:gd name="connsiteY26" fmla="*/ 18288 h 18288"/>
              <a:gd name="connsiteX27" fmla="*/ 4793056 w 11018520"/>
              <a:gd name="connsiteY27" fmla="*/ 18288 h 18288"/>
              <a:gd name="connsiteX28" fmla="*/ 4104399 w 11018520"/>
              <a:gd name="connsiteY28" fmla="*/ 18288 h 18288"/>
              <a:gd name="connsiteX29" fmla="*/ 3746297 w 11018520"/>
              <a:gd name="connsiteY29" fmla="*/ 18288 h 18288"/>
              <a:gd name="connsiteX30" fmla="*/ 3167825 w 11018520"/>
              <a:gd name="connsiteY30" fmla="*/ 18288 h 18288"/>
              <a:gd name="connsiteX31" fmla="*/ 2368982 w 11018520"/>
              <a:gd name="connsiteY31" fmla="*/ 18288 h 18288"/>
              <a:gd name="connsiteX32" fmla="*/ 1900695 w 11018520"/>
              <a:gd name="connsiteY32" fmla="*/ 18288 h 18288"/>
              <a:gd name="connsiteX33" fmla="*/ 991667 w 11018520"/>
              <a:gd name="connsiteY33" fmla="*/ 18288 h 18288"/>
              <a:gd name="connsiteX34" fmla="*/ 0 w 11018520"/>
              <a:gd name="connsiteY34" fmla="*/ 18288 h 18288"/>
              <a:gd name="connsiteX35" fmla="*/ 0 w 11018520"/>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18520" h="18288" fill="none" extrusionOk="0">
                <a:moveTo>
                  <a:pt x="0" y="0"/>
                </a:moveTo>
                <a:cubicBezTo>
                  <a:pt x="176840" y="19448"/>
                  <a:pt x="369510" y="1686"/>
                  <a:pt x="468287" y="0"/>
                </a:cubicBezTo>
                <a:cubicBezTo>
                  <a:pt x="567064" y="-1686"/>
                  <a:pt x="844925" y="28710"/>
                  <a:pt x="1156945" y="0"/>
                </a:cubicBezTo>
                <a:cubicBezTo>
                  <a:pt x="1468965" y="-28710"/>
                  <a:pt x="1755775" y="35306"/>
                  <a:pt x="1955787" y="0"/>
                </a:cubicBezTo>
                <a:cubicBezTo>
                  <a:pt x="2155799" y="-35306"/>
                  <a:pt x="2224532" y="-16632"/>
                  <a:pt x="2313889" y="0"/>
                </a:cubicBezTo>
                <a:cubicBezTo>
                  <a:pt x="2403246" y="16632"/>
                  <a:pt x="2494050" y="6083"/>
                  <a:pt x="2671991" y="0"/>
                </a:cubicBezTo>
                <a:cubicBezTo>
                  <a:pt x="2849932" y="-6083"/>
                  <a:pt x="3354152" y="34614"/>
                  <a:pt x="3581019" y="0"/>
                </a:cubicBezTo>
                <a:cubicBezTo>
                  <a:pt x="3807886" y="-34614"/>
                  <a:pt x="4022451" y="14254"/>
                  <a:pt x="4269677" y="0"/>
                </a:cubicBezTo>
                <a:cubicBezTo>
                  <a:pt x="4516903" y="-14254"/>
                  <a:pt x="4514495" y="-13291"/>
                  <a:pt x="4627778" y="0"/>
                </a:cubicBezTo>
                <a:cubicBezTo>
                  <a:pt x="4741061" y="13291"/>
                  <a:pt x="5120758" y="-22660"/>
                  <a:pt x="5316436" y="0"/>
                </a:cubicBezTo>
                <a:cubicBezTo>
                  <a:pt x="5512114" y="22660"/>
                  <a:pt x="5812155" y="-9513"/>
                  <a:pt x="6225464" y="0"/>
                </a:cubicBezTo>
                <a:cubicBezTo>
                  <a:pt x="6638773" y="9513"/>
                  <a:pt x="6545417" y="2479"/>
                  <a:pt x="6803936" y="0"/>
                </a:cubicBezTo>
                <a:cubicBezTo>
                  <a:pt x="7062455" y="-2479"/>
                  <a:pt x="7245098" y="-20209"/>
                  <a:pt x="7382408" y="0"/>
                </a:cubicBezTo>
                <a:cubicBezTo>
                  <a:pt x="7519718" y="20209"/>
                  <a:pt x="7801947" y="19736"/>
                  <a:pt x="8071066" y="0"/>
                </a:cubicBezTo>
                <a:cubicBezTo>
                  <a:pt x="8340185" y="-19736"/>
                  <a:pt x="8495312" y="-6666"/>
                  <a:pt x="8869909" y="0"/>
                </a:cubicBezTo>
                <a:cubicBezTo>
                  <a:pt x="9244506" y="6666"/>
                  <a:pt x="9501461" y="-13745"/>
                  <a:pt x="9668751" y="0"/>
                </a:cubicBezTo>
                <a:cubicBezTo>
                  <a:pt x="9836041" y="13745"/>
                  <a:pt x="10607605" y="14143"/>
                  <a:pt x="11018520" y="0"/>
                </a:cubicBezTo>
                <a:cubicBezTo>
                  <a:pt x="11019166" y="4451"/>
                  <a:pt x="11019010" y="9226"/>
                  <a:pt x="11018520" y="18288"/>
                </a:cubicBezTo>
                <a:cubicBezTo>
                  <a:pt x="10834966" y="15274"/>
                  <a:pt x="10754561" y="35250"/>
                  <a:pt x="10550233" y="18288"/>
                </a:cubicBezTo>
                <a:cubicBezTo>
                  <a:pt x="10345905" y="1326"/>
                  <a:pt x="9906342" y="45884"/>
                  <a:pt x="9641205" y="18288"/>
                </a:cubicBezTo>
                <a:cubicBezTo>
                  <a:pt x="9376068" y="-9308"/>
                  <a:pt x="9177188" y="43988"/>
                  <a:pt x="8952548" y="18288"/>
                </a:cubicBezTo>
                <a:cubicBezTo>
                  <a:pt x="8727908" y="-7412"/>
                  <a:pt x="8707007" y="3271"/>
                  <a:pt x="8594446" y="18288"/>
                </a:cubicBezTo>
                <a:cubicBezTo>
                  <a:pt x="8481885" y="33305"/>
                  <a:pt x="8175004" y="35109"/>
                  <a:pt x="7905788" y="18288"/>
                </a:cubicBezTo>
                <a:cubicBezTo>
                  <a:pt x="7636572" y="1467"/>
                  <a:pt x="7535638" y="7399"/>
                  <a:pt x="7327316" y="18288"/>
                </a:cubicBezTo>
                <a:cubicBezTo>
                  <a:pt x="7118994" y="29177"/>
                  <a:pt x="6978247" y="47205"/>
                  <a:pt x="6748844" y="18288"/>
                </a:cubicBezTo>
                <a:cubicBezTo>
                  <a:pt x="6519441" y="-10629"/>
                  <a:pt x="6459241" y="43308"/>
                  <a:pt x="6170371" y="18288"/>
                </a:cubicBezTo>
                <a:cubicBezTo>
                  <a:pt x="5881501" y="-6732"/>
                  <a:pt x="5736201" y="35971"/>
                  <a:pt x="5591899" y="18288"/>
                </a:cubicBezTo>
                <a:cubicBezTo>
                  <a:pt x="5447597" y="605"/>
                  <a:pt x="4990303" y="20409"/>
                  <a:pt x="4793056" y="18288"/>
                </a:cubicBezTo>
                <a:cubicBezTo>
                  <a:pt x="4595809" y="16167"/>
                  <a:pt x="4271723" y="2909"/>
                  <a:pt x="4104399" y="18288"/>
                </a:cubicBezTo>
                <a:cubicBezTo>
                  <a:pt x="3937075" y="33667"/>
                  <a:pt x="3923235" y="10730"/>
                  <a:pt x="3746297" y="18288"/>
                </a:cubicBezTo>
                <a:cubicBezTo>
                  <a:pt x="3569359" y="25846"/>
                  <a:pt x="3351081" y="24702"/>
                  <a:pt x="3167825" y="18288"/>
                </a:cubicBezTo>
                <a:cubicBezTo>
                  <a:pt x="2984569" y="11874"/>
                  <a:pt x="2708033" y="13293"/>
                  <a:pt x="2368982" y="18288"/>
                </a:cubicBezTo>
                <a:cubicBezTo>
                  <a:pt x="2029931" y="23283"/>
                  <a:pt x="2009060" y="37671"/>
                  <a:pt x="1900695" y="18288"/>
                </a:cubicBezTo>
                <a:cubicBezTo>
                  <a:pt x="1792330" y="-1095"/>
                  <a:pt x="1183178" y="9337"/>
                  <a:pt x="991667" y="18288"/>
                </a:cubicBezTo>
                <a:cubicBezTo>
                  <a:pt x="800156" y="27239"/>
                  <a:pt x="375690" y="34110"/>
                  <a:pt x="0" y="18288"/>
                </a:cubicBezTo>
                <a:cubicBezTo>
                  <a:pt x="-213" y="9468"/>
                  <a:pt x="187" y="4459"/>
                  <a:pt x="0" y="0"/>
                </a:cubicBezTo>
                <a:close/>
              </a:path>
              <a:path w="11018520" h="18288" stroke="0" extrusionOk="0">
                <a:moveTo>
                  <a:pt x="0" y="0"/>
                </a:moveTo>
                <a:cubicBezTo>
                  <a:pt x="266588" y="-23405"/>
                  <a:pt x="350503" y="-27031"/>
                  <a:pt x="578472" y="0"/>
                </a:cubicBezTo>
                <a:cubicBezTo>
                  <a:pt x="806441" y="27031"/>
                  <a:pt x="803976" y="13604"/>
                  <a:pt x="936574" y="0"/>
                </a:cubicBezTo>
                <a:cubicBezTo>
                  <a:pt x="1069172" y="-13604"/>
                  <a:pt x="1661335" y="-31902"/>
                  <a:pt x="1845602" y="0"/>
                </a:cubicBezTo>
                <a:cubicBezTo>
                  <a:pt x="2029869" y="31902"/>
                  <a:pt x="2273452" y="17005"/>
                  <a:pt x="2424074" y="0"/>
                </a:cubicBezTo>
                <a:cubicBezTo>
                  <a:pt x="2574696" y="-17005"/>
                  <a:pt x="2790864" y="-28133"/>
                  <a:pt x="3002547" y="0"/>
                </a:cubicBezTo>
                <a:cubicBezTo>
                  <a:pt x="3214230" y="28133"/>
                  <a:pt x="3605033" y="-14934"/>
                  <a:pt x="3911575" y="0"/>
                </a:cubicBezTo>
                <a:cubicBezTo>
                  <a:pt x="4218117" y="14934"/>
                  <a:pt x="4198004" y="3604"/>
                  <a:pt x="4379862" y="0"/>
                </a:cubicBezTo>
                <a:cubicBezTo>
                  <a:pt x="4561720" y="-3604"/>
                  <a:pt x="4941151" y="-37368"/>
                  <a:pt x="5288890" y="0"/>
                </a:cubicBezTo>
                <a:cubicBezTo>
                  <a:pt x="5636629" y="37368"/>
                  <a:pt x="6011513" y="-33898"/>
                  <a:pt x="6197918" y="0"/>
                </a:cubicBezTo>
                <a:cubicBezTo>
                  <a:pt x="6384323" y="33898"/>
                  <a:pt x="6555799" y="11241"/>
                  <a:pt x="6886575" y="0"/>
                </a:cubicBezTo>
                <a:cubicBezTo>
                  <a:pt x="7217351" y="-11241"/>
                  <a:pt x="7604472" y="-44614"/>
                  <a:pt x="7795603" y="0"/>
                </a:cubicBezTo>
                <a:cubicBezTo>
                  <a:pt x="7986734" y="44614"/>
                  <a:pt x="8098870" y="-11086"/>
                  <a:pt x="8374075" y="0"/>
                </a:cubicBezTo>
                <a:cubicBezTo>
                  <a:pt x="8649280" y="11086"/>
                  <a:pt x="8701749" y="-25020"/>
                  <a:pt x="8952548" y="0"/>
                </a:cubicBezTo>
                <a:cubicBezTo>
                  <a:pt x="9203347" y="25020"/>
                  <a:pt x="9519297" y="4274"/>
                  <a:pt x="9751390" y="0"/>
                </a:cubicBezTo>
                <a:cubicBezTo>
                  <a:pt x="9983483" y="-4274"/>
                  <a:pt x="10169881" y="16480"/>
                  <a:pt x="10329863" y="0"/>
                </a:cubicBezTo>
                <a:cubicBezTo>
                  <a:pt x="10489845" y="-16480"/>
                  <a:pt x="10750941" y="-9727"/>
                  <a:pt x="11018520" y="0"/>
                </a:cubicBezTo>
                <a:cubicBezTo>
                  <a:pt x="11018113" y="8690"/>
                  <a:pt x="11018366" y="14141"/>
                  <a:pt x="11018520" y="18288"/>
                </a:cubicBezTo>
                <a:cubicBezTo>
                  <a:pt x="10841176" y="-3597"/>
                  <a:pt x="10399304" y="41504"/>
                  <a:pt x="10219677" y="18288"/>
                </a:cubicBezTo>
                <a:cubicBezTo>
                  <a:pt x="10040050" y="-4928"/>
                  <a:pt x="10030762" y="16144"/>
                  <a:pt x="9861575" y="18288"/>
                </a:cubicBezTo>
                <a:cubicBezTo>
                  <a:pt x="9692388" y="20432"/>
                  <a:pt x="9529439" y="40380"/>
                  <a:pt x="9393288" y="18288"/>
                </a:cubicBezTo>
                <a:cubicBezTo>
                  <a:pt x="9257137" y="-3804"/>
                  <a:pt x="8825003" y="25592"/>
                  <a:pt x="8484260" y="18288"/>
                </a:cubicBezTo>
                <a:cubicBezTo>
                  <a:pt x="8143517" y="10984"/>
                  <a:pt x="8082894" y="45968"/>
                  <a:pt x="7795603" y="18288"/>
                </a:cubicBezTo>
                <a:cubicBezTo>
                  <a:pt x="7508312" y="-9392"/>
                  <a:pt x="7466074" y="19486"/>
                  <a:pt x="7327316" y="18288"/>
                </a:cubicBezTo>
                <a:cubicBezTo>
                  <a:pt x="7188558" y="17090"/>
                  <a:pt x="6869645" y="4657"/>
                  <a:pt x="6638658" y="18288"/>
                </a:cubicBezTo>
                <a:cubicBezTo>
                  <a:pt x="6407671" y="31919"/>
                  <a:pt x="6359238" y="35967"/>
                  <a:pt x="6280556" y="18288"/>
                </a:cubicBezTo>
                <a:cubicBezTo>
                  <a:pt x="6201874" y="609"/>
                  <a:pt x="6041216" y="22404"/>
                  <a:pt x="5922455" y="18288"/>
                </a:cubicBezTo>
                <a:cubicBezTo>
                  <a:pt x="5803694" y="14172"/>
                  <a:pt x="5555521" y="48848"/>
                  <a:pt x="5233797" y="18288"/>
                </a:cubicBezTo>
                <a:cubicBezTo>
                  <a:pt x="4912073" y="-12272"/>
                  <a:pt x="4986440" y="-2740"/>
                  <a:pt x="4765510" y="18288"/>
                </a:cubicBezTo>
                <a:cubicBezTo>
                  <a:pt x="4544580" y="39316"/>
                  <a:pt x="4177715" y="18248"/>
                  <a:pt x="3966667" y="18288"/>
                </a:cubicBezTo>
                <a:cubicBezTo>
                  <a:pt x="3755619" y="18328"/>
                  <a:pt x="3664519" y="22387"/>
                  <a:pt x="3498380" y="18288"/>
                </a:cubicBezTo>
                <a:cubicBezTo>
                  <a:pt x="3332241" y="14189"/>
                  <a:pt x="3065858" y="-7524"/>
                  <a:pt x="2699537" y="18288"/>
                </a:cubicBezTo>
                <a:cubicBezTo>
                  <a:pt x="2333216" y="44100"/>
                  <a:pt x="2505666" y="4650"/>
                  <a:pt x="2341436" y="18288"/>
                </a:cubicBezTo>
                <a:cubicBezTo>
                  <a:pt x="2177206" y="31926"/>
                  <a:pt x="1790164" y="19880"/>
                  <a:pt x="1542593" y="18288"/>
                </a:cubicBezTo>
                <a:cubicBezTo>
                  <a:pt x="1295022" y="16696"/>
                  <a:pt x="1218012" y="39325"/>
                  <a:pt x="1074306" y="18288"/>
                </a:cubicBezTo>
                <a:cubicBezTo>
                  <a:pt x="930600" y="-2749"/>
                  <a:pt x="797266" y="24589"/>
                  <a:pt x="716204" y="18288"/>
                </a:cubicBezTo>
                <a:cubicBezTo>
                  <a:pt x="635142" y="11987"/>
                  <a:pt x="344503" y="41396"/>
                  <a:pt x="0" y="18288"/>
                </a:cubicBezTo>
                <a:cubicBezTo>
                  <a:pt x="-53" y="11301"/>
                  <a:pt x="-649" y="7756"/>
                  <a:pt x="0" y="0"/>
                </a:cubicBezTo>
                <a:close/>
              </a:path>
            </a:pathLst>
          </a:custGeom>
          <a:solidFill>
            <a:srgbClr val="8FEDD1"/>
          </a:solidFill>
          <a:ln w="38100" cap="rnd">
            <a:solidFill>
              <a:srgbClr val="8FEDD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multiple colored circles&#10;&#10;Description automatically generated">
            <a:extLst>
              <a:ext uri="{FF2B5EF4-FFF2-40B4-BE49-F238E27FC236}">
                <a16:creationId xmlns:a16="http://schemas.microsoft.com/office/drawing/2014/main" id="{AAF3D3AE-F581-A080-7770-45AAF8238CB1}"/>
              </a:ext>
            </a:extLst>
          </p:cNvPr>
          <p:cNvPicPr>
            <a:picLocks noChangeAspect="1"/>
          </p:cNvPicPr>
          <p:nvPr/>
        </p:nvPicPr>
        <p:blipFill>
          <a:blip r:embed="rId2">
            <a:extLst>
              <a:ext uri="{28A0092B-C50C-407E-A947-70E740481C1C}">
                <a14:useLocalDpi xmlns:a14="http://schemas.microsoft.com/office/drawing/2010/main" val="0"/>
              </a:ext>
            </a:extLst>
          </a:blip>
          <a:srcRect l="2257" r="20058" b="-1"/>
          <a:stretch>
            <a:fillRect/>
          </a:stretch>
        </p:blipFill>
        <p:spPr>
          <a:xfrm>
            <a:off x="572492" y="2089604"/>
            <a:ext cx="3941064" cy="4096511"/>
          </a:xfrm>
          <a:prstGeom prst="rect">
            <a:avLst/>
          </a:prstGeom>
        </p:spPr>
      </p:pic>
      <p:sp>
        <p:nvSpPr>
          <p:cNvPr id="3" name="Content Placeholder 2">
            <a:extLst>
              <a:ext uri="{FF2B5EF4-FFF2-40B4-BE49-F238E27FC236}">
                <a16:creationId xmlns:a16="http://schemas.microsoft.com/office/drawing/2014/main" id="{18B3FD15-ED42-4833-1E7A-753A4B0C5732}"/>
              </a:ext>
            </a:extLst>
          </p:cNvPr>
          <p:cNvSpPr>
            <a:spLocks noGrp="1"/>
          </p:cNvSpPr>
          <p:nvPr>
            <p:ph idx="1"/>
          </p:nvPr>
        </p:nvSpPr>
        <p:spPr>
          <a:xfrm>
            <a:off x="4905955" y="2071316"/>
            <a:ext cx="6713552" cy="4096511"/>
          </a:xfrm>
        </p:spPr>
        <p:txBody>
          <a:bodyPr anchor="t">
            <a:normAutofit/>
          </a:bodyPr>
          <a:lstStyle/>
          <a:p>
            <a:r>
              <a:rPr lang="en-US" b="1" i="0">
                <a:effectLst/>
                <a:latin typeface="Work Sans" panose="020F0502020204030204" pitchFamily="2" charset="0"/>
              </a:rPr>
              <a:t>“Clustering</a:t>
            </a:r>
            <a:r>
              <a:rPr lang="en-US" b="0" i="0">
                <a:effectLst/>
                <a:latin typeface="Work Sans" panose="020F0502020204030204" pitchFamily="2" charset="0"/>
              </a:rPr>
              <a:t> is the task of dividing the population or data points into several groups such that data points in the same groups are more similar to other data points in the same group than those in other groups.”</a:t>
            </a:r>
            <a:endParaRPr lang="en-US" dirty="0"/>
          </a:p>
        </p:txBody>
      </p:sp>
    </p:spTree>
    <p:extLst>
      <p:ext uri="{BB962C8B-B14F-4D97-AF65-F5344CB8AC3E}">
        <p14:creationId xmlns:p14="http://schemas.microsoft.com/office/powerpoint/2010/main" val="1980618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E15B3-90C8-1F2C-7ED1-1EAFB95F5E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075776-58AC-C322-17A6-05C0A482E2D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18614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81037-B526-F501-9612-2E17E4B2E9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6039FD-CD11-762F-7705-4CA5C52311B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14041167"/>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otalTime>33</TotalTime>
  <Words>76</Words>
  <Application>Microsoft Office PowerPoint</Application>
  <PresentationFormat>Widescreen</PresentationFormat>
  <Paragraphs>13</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The Hand Bold</vt:lpstr>
      <vt:lpstr>The Serif Hand Black</vt:lpstr>
      <vt:lpstr>Work Sans</vt:lpstr>
      <vt:lpstr>SketchyVTI</vt:lpstr>
      <vt:lpstr>Clustering</vt:lpstr>
      <vt:lpstr>Agenda</vt:lpstr>
      <vt:lpstr>What Is clustering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احمد اكرم كامل عامر</dc:creator>
  <cp:lastModifiedBy>احمد اكرم كامل عامر</cp:lastModifiedBy>
  <cp:revision>1</cp:revision>
  <dcterms:created xsi:type="dcterms:W3CDTF">2025-07-31T17:21:25Z</dcterms:created>
  <dcterms:modified xsi:type="dcterms:W3CDTF">2025-07-31T17:55:24Z</dcterms:modified>
</cp:coreProperties>
</file>